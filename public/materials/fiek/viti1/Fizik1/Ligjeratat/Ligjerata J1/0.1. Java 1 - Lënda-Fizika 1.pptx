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307" r:id="rId2"/>
    <p:sldId id="302" r:id="rId3"/>
    <p:sldId id="308" r:id="rId4"/>
    <p:sldId id="310" r:id="rId5"/>
    <p:sldId id="311" r:id="rId6"/>
    <p:sldId id="309" r:id="rId7"/>
    <p:sldId id="312" r:id="rId8"/>
    <p:sldId id="313" r:id="rId9"/>
    <p:sldId id="314" r:id="rId10"/>
    <p:sldId id="315" r:id="rId11"/>
    <p:sldId id="316" r:id="rId12"/>
    <p:sldId id="324" r:id="rId13"/>
    <p:sldId id="317" r:id="rId14"/>
    <p:sldId id="325" r:id="rId15"/>
    <p:sldId id="326" r:id="rId16"/>
    <p:sldId id="318" r:id="rId17"/>
    <p:sldId id="319" r:id="rId18"/>
    <p:sldId id="320" r:id="rId19"/>
    <p:sldId id="321" r:id="rId20"/>
    <p:sldId id="322" r:id="rId21"/>
    <p:sldId id="32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DD5"/>
    <a:srgbClr val="130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003" autoAdjust="0"/>
  </p:normalViewPr>
  <p:slideViewPr>
    <p:cSldViewPr>
      <p:cViewPr varScale="1">
        <p:scale>
          <a:sx n="65" d="100"/>
          <a:sy n="65" d="100"/>
        </p:scale>
        <p:origin x="122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0-11-07T16:41:31.333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2101E16-4813-4E05-9BAA-6DB9CDB6B7D4}" emma:medium="tactile" emma:mode="ink">
          <msink:context xmlns:msink="http://schemas.microsoft.com/ink/2010/main" type="writingRegion" rotatedBoundingBox="21808,4001 22440,4001 22440,4056 21808,4056"/>
        </emma:interpretation>
      </emma:emma>
    </inkml:annotationXML>
    <inkml:traceGroup>
      <inkml:annotationXML>
        <emma:emma xmlns:emma="http://www.w3.org/2003/04/emma" version="1.0">
          <emma:interpretation id="{C55B1691-6042-44F0-BCD0-9BB97E38AAE6}" emma:medium="tactile" emma:mode="ink">
            <msink:context xmlns:msink="http://schemas.microsoft.com/ink/2010/main" type="paragraph" rotatedBoundingBox="21808,4001 22440,4001 22440,4056 21808,40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2F9B8B1-D77F-452E-99B9-9BF8FD78EF66}" emma:medium="tactile" emma:mode="ink">
              <msink:context xmlns:msink="http://schemas.microsoft.com/ink/2010/main" type="line" rotatedBoundingBox="21808,4001 22440,4001 22440,4056 21808,4056"/>
            </emma:interpretation>
          </emma:emma>
        </inkml:annotationXML>
        <inkml:traceGroup>
          <inkml:annotationXML>
            <emma:emma xmlns:emma="http://www.w3.org/2003/04/emma" version="1.0">
              <emma:interpretation id="{B8FC2F12-7652-49B4-8B07-2A70CF358CBA}" emma:medium="tactile" emma:mode="ink">
                <msink:context xmlns:msink="http://schemas.microsoft.com/ink/2010/main" type="inkWord" rotatedBoundingBox="21808,4001 22440,4001 22440,4056 21808,4056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-</emma:literal>
                </emma:interpretation>
                <emma:interpretation id="interp2" emma:lang="en-US" emma:confidence="0">
                  <emma:literal>_</emma:literal>
                </emma:interpretation>
                <emma:interpretation id="interp3" emma:lang="en-US" emma:confidence="0">
                  <emma:literal>*</emma:literal>
                </emma:interpretation>
                <emma:interpretation id="interp4" emma:lang="en-US" emma:confidence="0">
                  <emma:literal>^</emma:literal>
                </emma:interpretation>
              </emma:one-of>
            </emma:emma>
          </inkml:annotationXML>
          <inkml:trace contextRef="#ctx0" brushRef="#br0">22 67 11,'0'0'32,"0"0"-18,0 0 2,0 0 1,0 0 11,0 0-2,0 0-5,-3-13 0,3 12-6,0-4-1,0 5-9,0-5-2,0 2 0,-3 1-1,0-3-2,-4-1 0,4 6-2,3-4 2,-3 4 1,3 0 1,0 0 1,0 0-3,0 0 2,0 0-1,0 0 1,0 0-2,0 0 2,19 0 1,14 0-1,5 0-2,3 0 1,0 0-1,4 0 0,-1 0 0,3 0 0,-3 0 0,2 0 0,1 0 0,-9 0 1,-7 0-1,-1 0 0,-11 0 0,-10 0 1,1 0 0,-7 0 1,0 0 0,3 0-1,-3 0 0,-3 0 1,4 0-2,-1 4 0,0-4-2,3 1-1,1 4-2,-4-5 2,0 1-1,0-1 0,-3 4 2,3-4 1,-3 0 0,0 0 1,0 0 0,0 0 0,0 0 0,0 0 0,0 0 0,0 0 0,0 0-8,-19 2-16,-12 1 23,-10 1-8,-5-4 2,-1 1 0,-3-1 3,-5 0-4,4 0 0,1 0 2,8 0-1,4 0 7,3 0 1,10 0 1,3 0-2,2 0 1,14 0-1,4 0-1,2 0 1,0 0 0,0 0 0,0 0 4,0 0 8,0-1 7,19-6-19,15 1 2,4 0-4,6 5 4,5-5-2,-2 2 0,0 1 0,-1 3 1,-5-2-1,-7 2 3,-8 0 8,-4 0-6,-10 0 3,-4 0-1,-5 0-3,-3 0-4,0 0-17,-8 0-64,-29 0 22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BDDC9-33CA-4A84-A1C9-9869C889F24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4EFAF-C0C6-4230-BD25-5DB3C2EB5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1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q-A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4EFAF-C0C6-4230-BD25-5DB3C2EB5D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0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q.wikipedia.org/wiki/Temperatura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sq.wikipedia.org/w/index.php?title=Intensiteti_i_rrym%C3%ABs_elektrike&amp;action=edit&amp;redlink=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q.wikipedia.org/wiki/Koha" TargetMode="External"/><Relationship Id="rId11" Type="http://schemas.openxmlformats.org/officeDocument/2006/relationships/image" Target="../media/image4.wmf"/><Relationship Id="rId5" Type="http://schemas.openxmlformats.org/officeDocument/2006/relationships/hyperlink" Target="https://sq.wikipedia.org/wiki/Masa" TargetMode="External"/><Relationship Id="rId10" Type="http://schemas.openxmlformats.org/officeDocument/2006/relationships/hyperlink" Target="https://sq.wikipedia.org/wiki/Intesiteti_i_drit%C3%ABs" TargetMode="External"/><Relationship Id="rId4" Type="http://schemas.openxmlformats.org/officeDocument/2006/relationships/hyperlink" Target="https://sq.wikipedia.org/wiki/Gjat%C3%ABsia" TargetMode="External"/><Relationship Id="rId9" Type="http://schemas.openxmlformats.org/officeDocument/2006/relationships/hyperlink" Target="https://sq.wikipedia.org/w/index.php?title=Sasia_e_materies&amp;action=edit&amp;redlink=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jpg"/><Relationship Id="rId7" Type="http://schemas.openxmlformats.org/officeDocument/2006/relationships/image" Target="../media/image20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wmf"/><Relationship Id="rId10" Type="http://schemas.openxmlformats.org/officeDocument/2006/relationships/image" Target="../media/image54.emf"/><Relationship Id="rId4" Type="http://schemas.openxmlformats.org/officeDocument/2006/relationships/customXml" Target="../ink/ink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74638"/>
            <a:ext cx="3276600" cy="792162"/>
          </a:xfrm>
        </p:spPr>
        <p:txBody>
          <a:bodyPr/>
          <a:lstStyle/>
          <a:p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Çka </a:t>
            </a:r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është FIZIKA?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02106"/>
                <a:ext cx="7620000" cy="5479694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Fizika është njëra prej shkencave kryesore (</a:t>
                </a:r>
                <a:r>
                  <a:rPr lang="sq-AL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fundamentale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të natyrës.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Fjala fizikë rrjedh prej fjalës greke </a:t>
                </a:r>
                <a:r>
                  <a:rPr lang="sq-A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fizis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𝜑𝜈𝜎𝜄𝜍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që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thotë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natyrë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fizika e studion makrobotën (trupat në Toke, planetët e tjera, yjet </a:t>
                </a:r>
                <a:r>
                  <a:rPr lang="sq-AL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etj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dhe mikrobotën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(grimcat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elementare, atomet, molekulat </a:t>
                </a:r>
                <a:r>
                  <a:rPr lang="sq-AL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etj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02106"/>
                <a:ext cx="7620000" cy="5479694"/>
              </a:xfrm>
              <a:blipFill rotWithShape="0">
                <a:blip r:embed="rId2"/>
                <a:stretch>
                  <a:fillRect t="-779" r="-1040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633537"/>
            <a:ext cx="3276600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12" y="3643162"/>
            <a:ext cx="3581400" cy="2719939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8" y="175466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162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2665" y="533400"/>
            <a:ext cx="6477000" cy="381000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q-AL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sq-AL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Metodat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hulumtimeve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07154"/>
            <a:ext cx="7924800" cy="5764828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sq-AL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 janë metodat e </a:t>
            </a:r>
            <a:r>
              <a:rPr lang="sq-AL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hulumtimeve?</a:t>
            </a:r>
            <a:endParaRPr lang="sq-AL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sq-AL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Studimi </a:t>
            </a:r>
            <a:r>
              <a:rPr lang="sq-AL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dukurive fizike, varësisht nga dukuria që studiohet, bëhen në dy mënyra: </a:t>
            </a:r>
          </a:p>
          <a:p>
            <a:pPr algn="just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sq-AL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Studimi cilësor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një studim i këtillë bëhet pa asnjë ndërhyrje në dukurinë fizike.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për </a:t>
            </a:r>
            <a:r>
              <a:rPr lang="sq-AL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shembull</a:t>
            </a:r>
            <a:r>
              <a:rPr lang="sq-AL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në astronomi.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q-AL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Teleskopi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sq-AL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apësinor</a:t>
            </a:r>
            <a:r>
              <a:rPr lang="sq-AL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Hubble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(1990)</a:t>
            </a:r>
            <a:endParaRPr lang="sq-AL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sq-AL" sz="2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308383"/>
            <a:ext cx="3352800" cy="31368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177940"/>
            <a:ext cx="4114800" cy="36576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319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07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705600" cy="1143000"/>
          </a:xfrm>
        </p:spPr>
        <p:txBody>
          <a:bodyPr/>
          <a:lstStyle/>
          <a:p>
            <a:pPr algn="just"/>
            <a:r>
              <a:rPr lang="sq-AL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Studimi sasior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një studim i këtillë është kur studiuesi 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shkakton vetë dukurinë që i intereson përmes eksperimentit dhe metoda e tille quhet </a:t>
            </a:r>
            <a:r>
              <a:rPr lang="sq-AL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metodë eksperimentale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q-AL" sz="22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886200" y="1536192"/>
            <a:ext cx="4343400" cy="5017008"/>
          </a:xfrm>
        </p:spPr>
        <p:txBody>
          <a:bodyPr>
            <a:normAutofit fontScale="70000" lnSpcReduction="20000"/>
          </a:bodyPr>
          <a:lstStyle/>
          <a:p>
            <a:pPr marL="114300" indent="0" algn="ctr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sq-AL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Marie</a:t>
            </a:r>
            <a:r>
              <a:rPr lang="sq-AL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Skłodowska</a:t>
            </a:r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07.11.1867-1934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q-A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1903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Fituese e Çmimit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për Fizikë për z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hvil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limin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teorisë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radioaktiviteti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Pierre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dhe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Henri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Becquerel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sq-A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1911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Fituese e Çmimit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për Kimi për zbulimin e poloniumit dhe radiumit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Marie S Curie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është gruaja e parë që fitoi çmim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dhe e vetmja grua që fitoi çmimin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 herë dhe e vetmja që fitoi çmimin </a:t>
            </a:r>
            <a:r>
              <a:rPr lang="sq-A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në dy fusha shkencore. Ajo ishte gjithashtu gruaja e parë që u bë profesoreshë në Universitetin e Parisit.</a:t>
            </a:r>
          </a:p>
          <a:p>
            <a:pPr marL="114300" indent="0">
              <a:buNone/>
            </a:pPr>
            <a:endParaRPr lang="sq-AL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3379124" cy="25908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394416"/>
            <a:ext cx="3382478" cy="2158784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4638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453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68331"/>
            <a:ext cx="3886200" cy="822269"/>
          </a:xfrm>
        </p:spPr>
        <p:txBody>
          <a:bodyPr/>
          <a:lstStyle/>
          <a:p>
            <a:pPr algn="ctr"/>
            <a:r>
              <a:rPr lang="en-US" sz="2800" dirty="0"/>
              <a:t/>
            </a:r>
            <a:br>
              <a:rPr lang="en-US" sz="2800" dirty="0"/>
            </a:br>
            <a:r>
              <a:rPr lang="sq-AL" sz="2800" dirty="0" smtClean="0"/>
              <a:t>Madhësitë </a:t>
            </a:r>
            <a:r>
              <a:rPr lang="sq-AL" sz="2800" dirty="0"/>
              <a:t>fizike </a:t>
            </a:r>
            <a:br>
              <a:rPr lang="sq-AL" sz="2800" dirty="0"/>
            </a:br>
            <a:endParaRPr lang="sq-A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371600"/>
                <a:ext cx="8382000" cy="5334000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Madhësi fizike quhet çdo veti e matshme e dukurive natyrore. P.sh: masa, gjatësia, sipërfaqja, shtypja, puna, energjia etj.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Madhësitë fizike ndahen në shumë pikëpamje, si: </a:t>
                </a:r>
              </a:p>
              <a:p>
                <a:pPr marL="114300" lvl="0" indent="0" algn="just">
                  <a:buNone/>
                </a:pPr>
                <a:r>
                  <a:rPr 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pikëpamje </a:t>
                </a:r>
                <a:r>
                  <a:rPr lang="sq-AL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cilësore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dhe </a:t>
                </a:r>
                <a:r>
                  <a:rPr lang="sq-AL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sasiore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madhësitë ndahen në dy </a:t>
                </a: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grupe: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14300" lvl="0" indent="0" algn="just"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a) </a:t>
                </a: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Madhësitë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njëllojta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</a:t>
                </a:r>
              </a:p>
              <a:p>
                <a:pPr marL="114300" lvl="0" indent="0" algn="just"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b) M</a:t>
                </a:r>
                <a:r>
                  <a:rPr lang="sq-AL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adhësitë</a:t>
                </a: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 të njëllojta </a:t>
                </a:r>
              </a:p>
              <a:p>
                <a:pPr marL="114300" lvl="0" indent="0" algn="just"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114300" lv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a) </a:t>
                </a: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Madhësitë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njëllojta janë të gjitha ato madhësi që për nga sasia janë të ndryshme por cilësinë e kanë të njëjtë:  P.sh: masa, gjatësia, sipërfaqja etj. Madhësitë e njëllojta mund te barazohen, të mblidhen dhe të zbriten. Nëse pjesëtohen në mes veti atëherë fitohet madhësi relative, e cila nuk ka dimension, p.sh.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sq-AL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sSub>
                          <m:sSubPr>
                            <m:ctrlPr>
                              <a:rPr lang="sq-A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q-AL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sq-AL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gjatësia relative.</a:t>
                </a:r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371600"/>
                <a:ext cx="8382000" cy="5334000"/>
              </a:xfrm>
              <a:blipFill rotWithShape="0">
                <a:blip r:embed="rId2"/>
                <a:stretch>
                  <a:fillRect t="-1600" r="-1091" b="-2514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0257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879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8153400" cy="525780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b)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 të njëllojta janë të gjitha ato madhësi të cilat ndryshojnë në mes veti sipas cilësisë dhe sasisë:  P.sh: koha dhe masa, temperatura dhe gjatësia, etj. Këto madhësi nuk mund të barazohen, mblidhen dhe as të zbriten në mes veti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Në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pikëpamje të përkufizimit madhësitë ndahen po ashtu në dy grupe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endParaRPr lang="sq-AL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a)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themelore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b) M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adhësitë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të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rrjedhura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</a:t>
            </a:r>
            <a:r>
              <a:rPr lang="sq-AL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themelore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quhen ato madhësi të cilat përkufizohen pavarësisht nga përkufizimi i madhësive tjera. Tani në shkencë janë përkufizuar shtatë madhësi themelore dhe njësitë e 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 njohura si </a:t>
            </a:r>
            <a:r>
              <a:rPr lang="sq-AL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sistemi ndërkombëtar i </a:t>
            </a:r>
            <a:r>
              <a:rPr lang="sq-AL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njësive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</a:t>
            </a:r>
            <a:r>
              <a:rPr lang="sq-AL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q-AL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endParaRPr lang="sq-AL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just">
              <a:buNone/>
            </a:pPr>
            <a:endParaRPr lang="sq-AL" sz="2400" dirty="0"/>
          </a:p>
          <a:p>
            <a:pPr marL="114300" indent="0">
              <a:buNone/>
            </a:pPr>
            <a:endParaRPr lang="sq-AL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728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0"/>
            <a:ext cx="3352800" cy="1189038"/>
          </a:xfrm>
        </p:spPr>
        <p:txBody>
          <a:bodyPr/>
          <a:lstStyle/>
          <a:p>
            <a:pPr algn="ctr"/>
            <a:r>
              <a:rPr lang="sq-AL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Sistemi </a:t>
            </a:r>
            <a:r>
              <a:rPr lang="sq-A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ndërkombëtar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q-AL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endParaRPr lang="sq-A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idx="1"/>
              </p:nvPr>
            </p:nvSpPr>
            <p:spPr>
              <a:xfrm>
                <a:off x="360145" y="4419600"/>
                <a:ext cx="7793255" cy="2438400"/>
              </a:xfrm>
            </p:spPr>
            <p:txBody>
              <a:bodyPr>
                <a:normAutofit lnSpcReduction="10000"/>
              </a:bodyPr>
              <a:lstStyle/>
              <a:p>
                <a:pPr marL="114300" lvl="0" indent="0" algn="just">
                  <a:buNone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:r>
                  <a:rPr lang="sq-AL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Madhësitë </a:t>
                </a:r>
                <a:r>
                  <a:rPr lang="sq-AL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rrjedhura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quhen te gjitha madhësitë e përkufizuara me ndihmën e dy apo me shumë madhësive themelore. P.sh. njësia për forcë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𝑘𝑔</m:t>
                    </m:r>
                    <m:f>
                      <m:f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q-AL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sq-AL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njësia për sipërfaqen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sq-A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q-AL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sq-A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 algn="just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 ashtu për njësitë matëse ekzistojnë shumëfishat (</a:t>
                </a:r>
                <a:r>
                  <a:rPr lang="sq-AL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prefikse nga fjalë të vjetra Greke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dhe nënfishat (</a:t>
                </a:r>
                <a:r>
                  <a:rPr lang="sq-AL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prefikse nga fjalë të vjetra Latine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sq-AL" dirty="0"/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145" y="4419600"/>
                <a:ext cx="7793255" cy="2438400"/>
              </a:xfrm>
              <a:blipFill rotWithShape="0">
                <a:blip r:embed="rId3"/>
                <a:stretch>
                  <a:fillRect t="-3000" r="-938" b="-2000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31607"/>
              </p:ext>
            </p:extLst>
          </p:nvPr>
        </p:nvGraphicFramePr>
        <p:xfrm>
          <a:off x="360145" y="1251626"/>
          <a:ext cx="7793255" cy="30917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99159"/>
                <a:gridCol w="1462096"/>
                <a:gridCol w="1769904"/>
                <a:gridCol w="1462096"/>
              </a:tblGrid>
              <a:tr h="351078">
                <a:tc>
                  <a:txBody>
                    <a:bodyPr/>
                    <a:lstStyle/>
                    <a:p>
                      <a:r>
                        <a:rPr lang="sq-AL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Madhësia</a:t>
                      </a: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q-AL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simboli</a:t>
                      </a: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q-AL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Njësia</a:t>
                      </a: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q-AL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simboli</a:t>
                      </a:r>
                    </a:p>
                  </a:txBody>
                  <a:tcPr marL="25400" marR="25400" marT="25400" marB="25400" anchor="ctr"/>
                </a:tc>
              </a:tr>
              <a:tr h="351078">
                <a:tc>
                  <a:txBody>
                    <a:bodyPr/>
                    <a:lstStyle/>
                    <a:p>
                      <a:r>
                        <a:rPr lang="sq-AL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Gjatësia"/>
                        </a:rPr>
                        <a:t>Gjatësia</a:t>
                      </a:r>
                      <a:endParaRPr lang="sq-AL" b="1" u="non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sq-AL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</a:t>
                      </a:r>
                      <a:endParaRPr lang="sq-AL" b="1" u="non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sq-AL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</a:tr>
              <a:tr h="351078">
                <a:tc>
                  <a:txBody>
                    <a:bodyPr/>
                    <a:lstStyle/>
                    <a:p>
                      <a:r>
                        <a:rPr lang="sq-AL" b="1" u="sng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Masa"/>
                        </a:rPr>
                        <a:t>Masa</a:t>
                      </a:r>
                      <a:endParaRPr lang="sq-AL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sq-AL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kilogrami</a:t>
                      </a:r>
                      <a:endParaRPr lang="sq-AL" b="1" u="non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sq-AL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sq-AL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</a:tr>
              <a:tr h="351078">
                <a:tc>
                  <a:txBody>
                    <a:bodyPr/>
                    <a:lstStyle/>
                    <a:p>
                      <a:r>
                        <a:rPr lang="sq-AL" b="1" u="sng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Koha"/>
                        </a:rPr>
                        <a:t>Koha</a:t>
                      </a:r>
                      <a:endParaRPr lang="sq-AL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sq-AL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sekonda</a:t>
                      </a:r>
                      <a:endParaRPr lang="sq-AL" b="1" u="non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sq-AL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</a:tr>
              <a:tr h="418094">
                <a:tc>
                  <a:txBody>
                    <a:bodyPr/>
                    <a:lstStyle/>
                    <a:p>
                      <a:r>
                        <a:rPr lang="sq-AL" sz="1800" u="sng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Intensiteti i rrymës elektrike (nuk është shkruar akoma)"/>
                        </a:rPr>
                        <a:t>Intensiteti i rrymës elektrike</a:t>
                      </a:r>
                      <a:endParaRPr lang="sq-AL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sq-AL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amperi</a:t>
                      </a:r>
                      <a:endParaRPr lang="sq-AL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sq-AL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</a:tr>
              <a:tr h="394963">
                <a:tc>
                  <a:txBody>
                    <a:bodyPr/>
                    <a:lstStyle/>
                    <a:p>
                      <a:pPr algn="l"/>
                      <a:r>
                        <a:rPr lang="en-US" sz="1800" u="sng" strike="noStrike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Temperatura"/>
                        </a:rPr>
                        <a:t>Te</a:t>
                      </a:r>
                      <a:r>
                        <a:rPr lang="sq-AL" sz="1800" u="sng" strike="noStrike" kern="1200" noProof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Temperatura"/>
                        </a:rPr>
                        <a:t>mperatura</a:t>
                      </a:r>
                      <a:endParaRPr lang="sq-AL" u="sng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sq-AL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kelvini</a:t>
                      </a:r>
                      <a:r>
                        <a:rPr lang="en-US" u="none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sq-AL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sq-AL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4963">
                <a:tc>
                  <a:txBody>
                    <a:bodyPr/>
                    <a:lstStyle/>
                    <a:p>
                      <a:r>
                        <a:rPr lang="sq-AL" sz="1800" u="sng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tooltip="Sasia e materies (nuk është shkruar akoma)"/>
                        </a:rPr>
                        <a:t>Sasia </a:t>
                      </a:r>
                      <a:r>
                        <a:rPr lang="en-US" sz="1800" u="sng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tooltip="Sasia e materies (nuk është shkruar akoma)"/>
                        </a:rPr>
                        <a:t>e</a:t>
                      </a:r>
                      <a:r>
                        <a:rPr lang="sq-AL" sz="1800" u="sng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tooltip="Sasia e materies (nuk është shkruar akoma)"/>
                        </a:rPr>
                        <a:t> materies</a:t>
                      </a:r>
                      <a:endParaRPr lang="sq-AL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sq-AL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moli</a:t>
                      </a:r>
                      <a:endParaRPr lang="sq-AL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</a:t>
                      </a:r>
                      <a:endParaRPr lang="sq-AL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79442">
                <a:tc>
                  <a:txBody>
                    <a:bodyPr/>
                    <a:lstStyle/>
                    <a:p>
                      <a:r>
                        <a:rPr lang="sq-AL" sz="1800" u="sng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 tooltip="Intesiteti i dritës"/>
                        </a:rPr>
                        <a:t>Intensiteti i dritës</a:t>
                      </a:r>
                      <a:endParaRPr lang="sq-AL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endParaRPr lang="sq-AL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kandela</a:t>
                      </a:r>
                      <a:endParaRPr lang="sq-AL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endParaRPr lang="sq-AL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39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4638"/>
            <a:ext cx="5867400" cy="715962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q-AL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humëfishat</a:t>
            </a:r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dhe </a:t>
            </a:r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nënfishat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219200"/>
            <a:ext cx="8153400" cy="5562600"/>
          </a:xfr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45" y="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09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50838"/>
            <a:ext cx="4648200" cy="715962"/>
          </a:xfrm>
        </p:spPr>
        <p:txBody>
          <a:bodyPr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</a:t>
            </a:r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skalare dhe vektoriale 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800" y="1524000"/>
            <a:ext cx="7772400" cy="5029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Skalarët: Madhësitë fizike që përcaktohen vetëm me vlerën numerike dhe njësinë gjegjëse quhen madhësi SKALARE. Madhësitë e tilla janë: gjatësia, sipërfaqja, vëllimi, temperatura, masa, koha, puna, energjia etj.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</a:t>
            </a:r>
          </a:p>
          <a:p>
            <a:pPr marL="11430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</a:t>
            </a:r>
            <a:r>
              <a:rPr lang="sq-AL" b="1" dirty="0" smtClean="0">
                <a:solidFill>
                  <a:srgbClr val="FF0000"/>
                </a:solidFill>
              </a:rPr>
              <a:t>Distanca- </a:t>
            </a:r>
            <a:r>
              <a:rPr lang="sq-AL" b="1" dirty="0" err="1">
                <a:solidFill>
                  <a:srgbClr val="FF0000"/>
                </a:solidFill>
              </a:rPr>
              <a:t>Skalar</a:t>
            </a:r>
            <a:endParaRPr lang="sq-AL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b="1" dirty="0" smtClean="0">
                <a:solidFill>
                  <a:srgbClr val="193DD5"/>
                </a:solidFill>
              </a:rPr>
              <a:t>       </a:t>
            </a:r>
            <a:r>
              <a:rPr lang="sq-AL" b="1" dirty="0" smtClean="0">
                <a:solidFill>
                  <a:srgbClr val="193DD5"/>
                </a:solidFill>
              </a:rPr>
              <a:t>Zhvendosja- </a:t>
            </a:r>
            <a:r>
              <a:rPr lang="sq-AL" b="1" dirty="0">
                <a:solidFill>
                  <a:srgbClr val="193DD5"/>
                </a:solidFill>
              </a:rPr>
              <a:t>Vektor</a:t>
            </a:r>
            <a:endParaRPr lang="sq-AL" dirty="0">
              <a:solidFill>
                <a:srgbClr val="193DD5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sq-A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sq-AL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352800"/>
            <a:ext cx="3879850" cy="215265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638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49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7620000" cy="5410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Vektorët: Madhësitë fizike që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përcaktohen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vlerën e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numerike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(intensitetin), drejtimin dhe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kahun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 madhësitë e tilla quhen madhësi vektoriale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Madhësia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vektoriale grafikisht mund të paraqitet me një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të orientuar që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quhet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vektor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të cilin gjatësia paraqet </a:t>
            </a:r>
            <a:r>
              <a:rPr lang="sq-AL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intensitetin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vektorit, drejtëza në të cilin shtrihet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vektori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paraqet </a:t>
            </a:r>
            <a:r>
              <a:rPr lang="sq-AL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drejtimin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tij, kurse shigjeta në njërin skaj të tij paraqet </a:t>
            </a:r>
            <a:r>
              <a:rPr lang="sq-AL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kahun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vektorit.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vektoriale </a:t>
            </a:r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mblidhen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dhe </a:t>
            </a:r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zbriten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në mes vete sipas rregullave gjeometrike,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paraqesin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madhësi të njëllojta fizike.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029200"/>
            <a:ext cx="7010400" cy="16002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34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5562600" cy="563562"/>
          </a:xfrm>
        </p:spPr>
        <p:txBody>
          <a:bodyPr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Mbledhja </a:t>
            </a:r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dhe zbritja e vektorëve  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12838"/>
                <a:ext cx="8229600" cy="5668962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Mbledhja e vektorëve mund të bëhet në dy mënyra: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sipas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paralelogramit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sipas poligonit të vektorëve.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Mbledhja e vektorëve sipas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paralelogramit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Mbledhja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vektorëve sipas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poligonit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i="1" dirty="0" smtClean="0"/>
              </a:p>
              <a:p>
                <a:pPr marL="114300" indent="0">
                  <a:buNone/>
                </a:pPr>
                <a:endParaRPr lang="en-US" i="1" dirty="0"/>
              </a:p>
              <a:p>
                <a:pPr marL="114300" indent="0">
                  <a:buNone/>
                </a:pPr>
                <a:endParaRPr lang="en-US" i="1" dirty="0" smtClean="0"/>
              </a:p>
              <a:p>
                <a:pPr marL="114300" indent="0">
                  <a:buNone/>
                </a:pPr>
                <a:endParaRPr lang="en-US" i="1" dirty="0"/>
              </a:p>
              <a:p>
                <a:pPr marL="114300" indent="0">
                  <a:buNone/>
                </a:pPr>
                <a:endParaRPr lang="en-US" i="1" dirty="0" smtClean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</m:oMath>
                  </m:oMathPara>
                </a14:m>
                <a:endParaRPr lang="sq-AL" dirty="0"/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12838"/>
                <a:ext cx="8229600" cy="5668962"/>
              </a:xfrm>
              <a:blipFill rotWithShape="0">
                <a:blip r:embed="rId2"/>
                <a:stretch>
                  <a:fillRect t="-753" r="-963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18" y="2499519"/>
            <a:ext cx="6229350" cy="144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3" y="4472384"/>
            <a:ext cx="6070600" cy="17843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6436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383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400800" cy="71596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Zbritja e vektorëve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119544"/>
                <a:ext cx="8458200" cy="5662256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Zbritja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dy vektorëve mund të bëhet me mbledhjen e tyre. Le të jenë dhënë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në figure. Zbritja e tyre simbolikisht mund të shkruhet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kështu</a:t>
                </a: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sq-AL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të jetë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 me kah të kundërt, prandaj ne e mbledhim vektorin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 vektorin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sq-AL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sipas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paralelogramit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vektorëve, me </a:t>
                </a:r>
                <a:r>
                  <a:rPr lang="sq-AL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ç’rast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mund të shkruajmë si me lart.</a:t>
                </a: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solidFill>
                    <a:srgbClr val="193DD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sq-AL" dirty="0" smtClean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Për </a:t>
                </a:r>
                <a:r>
                  <a:rPr lang="sq-AL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manipulime me vektorë duhet t’i përkujtojmë dy teorema nga </a:t>
                </a:r>
                <a:r>
                  <a:rPr lang="en-US" dirty="0" smtClean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sq-AL" dirty="0" smtClean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trigonometria</a:t>
                </a:r>
                <a:r>
                  <a:rPr lang="sq-AL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sq-AL" b="1" i="1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teoremën e</a:t>
                </a:r>
                <a:r>
                  <a:rPr lang="en-US" b="1" i="1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b="1" i="1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kosinusit </a:t>
                </a:r>
                <a:r>
                  <a:rPr lang="sq-AL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:r>
                  <a:rPr lang="sq-AL" b="1" i="1" dirty="0">
                    <a:solidFill>
                      <a:srgbClr val="193DD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teoremën e sinusit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9544"/>
                <a:ext cx="8458200" cy="5662256"/>
              </a:xfrm>
              <a:blipFill rotWithShape="0">
                <a:blip r:embed="rId2"/>
                <a:stretch>
                  <a:fillRect t="-1292" r="-865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14800"/>
            <a:ext cx="6934200" cy="1524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6038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74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5867400" cy="1143000"/>
          </a:xfrm>
        </p:spPr>
        <p:txBody>
          <a:bodyPr/>
          <a:lstStyle/>
          <a:p>
            <a:r>
              <a:rPr lang="en-US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sq-AL" sz="3200" i="1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eorem</a:t>
            </a:r>
            <a:r>
              <a:rPr lang="en-US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q-AL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200" i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i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kosinus</a:t>
            </a:r>
            <a:r>
              <a:rPr lang="en-US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200" i="1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3200" i="1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sinusit</a:t>
            </a:r>
            <a:endParaRPr lang="sq-AL" sz="3200" i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4108"/>
            <a:ext cx="1219200" cy="1173162"/>
          </a:xfrm>
          <a:prstGeom prst="rect">
            <a:avLst/>
          </a:prstGeom>
          <a:noFill/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4" y="1410088"/>
            <a:ext cx="4257675" cy="156106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48000" y="1737830"/>
                <a:ext cx="457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sq-AL" sz="2000" dirty="0"/>
              </a:p>
              <a:p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737830"/>
                <a:ext cx="457200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10345" r="-30667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71800" y="2667000"/>
                <a:ext cx="457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q-AL" sz="2000" dirty="0"/>
              </a:p>
              <a:p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667000"/>
                <a:ext cx="457200" cy="707886"/>
              </a:xfrm>
              <a:prstGeom prst="rect">
                <a:avLst/>
              </a:prstGeom>
              <a:blipFill rotWithShape="0">
                <a:blip r:embed="rId5"/>
                <a:stretch>
                  <a:fillRect t="-10345" r="-29333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48200" y="1759916"/>
                <a:ext cx="457200" cy="773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sq-AL" sz="2000" dirty="0"/>
              </a:p>
              <a:p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759916"/>
                <a:ext cx="457200" cy="7738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95800" y="2180385"/>
                <a:ext cx="381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sq-AL" dirty="0"/>
              </a:p>
              <a:p>
                <a:endParaRPr lang="sq-AL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2180385"/>
                <a:ext cx="381000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152524" y="2971800"/>
                <a:ext cx="547687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sq-AL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q-AL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sq-AL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q-AL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sq-AL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q-AL" i="0">
                        <a:latin typeface="Cambria Math" panose="02040503050406030204" pitchFamily="18" charset="0"/>
                      </a:rPr>
                      <m:t>+2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𝑎𝑏</m:t>
                    </m:r>
                    <m:func>
                      <m:func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q-AL" i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sq-AL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 </a:t>
                </a:r>
                <a:r>
                  <a:rPr lang="en-US" dirty="0" err="1" smtClean="0"/>
                  <a:t>teorema</a:t>
                </a:r>
                <a:r>
                  <a:rPr lang="en-US" dirty="0" smtClean="0"/>
                  <a:t> e </a:t>
                </a:r>
                <a:r>
                  <a:rPr lang="en-US" dirty="0" err="1" smtClean="0"/>
                  <a:t>kosinusit</a:t>
                </a:r>
                <a:endParaRPr lang="sq-AL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24" y="2971800"/>
                <a:ext cx="5476876" cy="646331"/>
              </a:xfrm>
              <a:prstGeom prst="rect">
                <a:avLst/>
              </a:prstGeom>
              <a:blipFill rotWithShape="0">
                <a:blip r:embed="rId8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99" y="3733895"/>
            <a:ext cx="3810000" cy="20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54904" y="5766373"/>
                <a:ext cx="2250296" cy="6649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q-A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sq-AL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sq-AL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den>
                      </m:f>
                      <m:r>
                        <a:rPr lang="sq-AL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sq-AL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sq-AL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den>
                      </m:f>
                      <m:r>
                        <a:rPr lang="sq-AL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func>
                            <m:funcPr>
                              <m:ctrlPr>
                                <a:rPr lang="sq-AL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sq-AL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sq-AL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904" y="5766373"/>
                <a:ext cx="2250296" cy="66492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531141" y="5914170"/>
            <a:ext cx="1863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teorema</a:t>
            </a:r>
            <a:r>
              <a:rPr lang="en-US" dirty="0"/>
              <a:t> </a:t>
            </a:r>
            <a:r>
              <a:rPr lang="en-US" dirty="0" smtClean="0"/>
              <a:t>e </a:t>
            </a:r>
            <a:r>
              <a:rPr lang="en-US" dirty="0" err="1" smtClean="0"/>
              <a:t>sinusit</a:t>
            </a:r>
            <a:r>
              <a:rPr lang="en-US" dirty="0" smtClean="0"/>
              <a:t> </a:t>
            </a:r>
            <a:endParaRPr lang="sq-AL" dirty="0"/>
          </a:p>
        </p:txBody>
      </p:sp>
    </p:spTree>
    <p:extLst>
      <p:ext uri="{BB962C8B-B14F-4D97-AF65-F5344CB8AC3E}">
        <p14:creationId xmlns:p14="http://schemas.microsoft.com/office/powerpoint/2010/main" val="331203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3657600" cy="487362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Komponentët </a:t>
            </a:r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vektorit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71575"/>
                <a:ext cx="7924800" cy="54102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 i dhënë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mund të shpërbëhet në tri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komponentë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hapësirë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sipas koordinatave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z,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 fillimi i vektorit vendoset në origjinën e sistemit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koordinat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</a:t>
                </a:r>
                <a:r>
                  <a:rPr lang="sq-A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Dekartit</a:t>
                </a: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qoftë se vektorët</a:t>
                </a:r>
                <a:r>
                  <a:rPr lang="sq-AL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njësi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përgjatë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boshteve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koordinatave janë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,atëherë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mund të shprehet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mënyrë </a:t>
                </a:r>
              </a:p>
              <a:p>
                <a:pPr marL="114300" indent="0">
                  <a:buNone/>
                </a:pP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analitik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nëpërmjet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komponentëve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tij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sq-AL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sipas relacionit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 smtClean="0"/>
                  <a:t>  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sq-AL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dirty="0" smtClean="0"/>
              </a:p>
              <a:p>
                <a:pPr marL="114300" indent="0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Kurse intensiteti i tij shprehet:</a:t>
                </a:r>
              </a:p>
              <a:p>
                <a:pPr marL="114300" indent="0">
                  <a:buNone/>
                </a:pPr>
                <a:r>
                  <a:rPr lang="en-US" dirty="0" smtClean="0"/>
                  <a:t>       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sq-AL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sq-AL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sq-AL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sq-AL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sq-AL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dirty="0" smtClean="0"/>
                  <a:t> </a:t>
                </a:r>
              </a:p>
              <a:p>
                <a:pPr marL="114300" indent="0">
                  <a:buNone/>
                </a:pPr>
                <a:endParaRPr lang="en-US" dirty="0" smtClean="0"/>
              </a:p>
              <a:p>
                <a:pPr marL="114300" indent="0">
                  <a:buNone/>
                </a:pPr>
                <a:endParaRPr lang="sq-AL" dirty="0"/>
              </a:p>
              <a:p>
                <a:pPr marL="114300" indent="0">
                  <a:buNone/>
                </a:pPr>
                <a:endParaRPr lang="sq-AL" dirty="0"/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71575"/>
                <a:ext cx="7924800" cy="5410200"/>
              </a:xfrm>
              <a:blipFill rotWithShape="0">
                <a:blip r:embed="rId2"/>
                <a:stretch>
                  <a:fillRect t="-788" r="-923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733800"/>
            <a:ext cx="3048000" cy="272415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728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3352800" cy="792162"/>
          </a:xfrm>
        </p:spPr>
        <p:txBody>
          <a:bodyPr/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Prodhimi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ëve</a:t>
            </a:r>
            <a:endParaRPr lang="sq-AL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447800"/>
                <a:ext cx="8305800" cy="5181600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vektorëve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skalar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brendshëm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vektorial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jashtëm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114300" indent="0">
                  <a:buNone/>
                </a:pP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skalar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brendshëm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vektorëve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dhënë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q-AL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simbolikisht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paraqitet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sq-A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lang="sq-A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sq-AL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q-AL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ë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skalar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vektorëve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njësi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unitar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447800"/>
                <a:ext cx="8305800" cy="5181600"/>
              </a:xfrm>
              <a:blipFill rotWithShape="0">
                <a:blip r:embed="rId2"/>
                <a:stretch>
                  <a:fillRect t="-824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4638"/>
            <a:ext cx="1219200" cy="1173162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025" y="4071486"/>
            <a:ext cx="288597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3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447800"/>
                <a:ext cx="8305800" cy="5257800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jashtëm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vektorëve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dhënë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𝑑h𝑒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sq-AL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sq-AL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simbolikisht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paraqitet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Prodhimi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vektorial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vektorëve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njësi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unitar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sq-A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447800"/>
                <a:ext cx="8305800" cy="5257800"/>
              </a:xfrm>
              <a:blipFill rotWithShape="0">
                <a:blip r:embed="rId2"/>
                <a:stretch>
                  <a:fillRect t="-812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3400" y="274638"/>
            <a:ext cx="1371600" cy="1173162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362200"/>
            <a:ext cx="27622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8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4267200" cy="844906"/>
          </a:xfrm>
        </p:spPr>
        <p:txBody>
          <a:bodyPr/>
          <a:lstStyle/>
          <a:p>
            <a:pPr algn="ctr"/>
            <a:r>
              <a:rPr lang="sq-AL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Elementet e lëvizjes</a:t>
            </a:r>
            <a:endParaRPr lang="sq-A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940" y="1173162"/>
                <a:ext cx="8382000" cy="5509856"/>
              </a:xfrm>
            </p:spPr>
            <p:txBody>
              <a:bodyPr>
                <a:normAutofit lnSpcReduction="10000"/>
              </a:bodyPr>
              <a:lstStyle/>
              <a:p>
                <a:pPr marL="114300" indent="0" algn="just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Lëvizje quhet procesi i vazhdueshëm i ndërrimit të pozitës së një trupi ndaj trupave tjerë apo të ndonjë trupi të zgjedhur për krahasim që quhet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trup krahasues (referent).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kinematikë (mekanika e lëvizjeve) trupi identifikohet me një pikë lëndore (materiale), lëvizja e së cilës përshkruhet me ligjet e kinematikës. Për të përshkruar ndonjë lëvizje janë të domosdoshëm disa parametra apo madhësi fizike që ne i quajmë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elementet e lëvizjes</a:t>
                </a:r>
                <a:r>
                  <a:rPr lang="sq-AL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endParaRPr lang="en-US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 i pozitës, zhvendosja dhe </a:t>
                </a:r>
                <a:r>
                  <a:rPr lang="sq-AL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rruga</a:t>
                </a:r>
                <a:endParaRPr lang="en-US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US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Nëse shikojmë lëvizjen e një grimce nëpër trajektoren e paraqitur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figurë. Pozita e grimcës mund të përcaktohet në çdo pikë të trajektores me ndihmën e një vektori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që tërhiqet nga origjina e sistemit koordinatave deri në pikën ku gjendet grimca, p. sh. në pikën A. Ky vektor quhet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radius vektor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rreze vektor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apo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vektori i pozitës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Kur grimca arrin në pikën B, vektori i pozitës në të është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sq-A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q-AL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sq-A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Ndryshimi i këtyre dy vektorëve paraqet </a:t>
                </a: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zhvendosjen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grimcës, që është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 algn="just">
                  <a:buNone/>
                </a:pPr>
                <a:endParaRPr lang="en-US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40" y="1173162"/>
                <a:ext cx="8382000" cy="5509856"/>
              </a:xfrm>
              <a:blipFill rotWithShape="0">
                <a:blip r:embed="rId2"/>
                <a:stretch>
                  <a:fillRect t="-1217" r="-945" b="-1991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1219200" cy="1173162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739368"/>
            <a:ext cx="2819400" cy="22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5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14400"/>
                <a:ext cx="8305800" cy="5791200"/>
              </a:xfrm>
            </p:spPr>
            <p:txBody>
              <a:bodyPr>
                <a:no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000" i="1">
                          <a:latin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⃗"/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sq-AL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sq-AL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q-AL" sz="20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Gjatësia e trajektores nga pika A në pikën B quhet </a:t>
                </a:r>
                <a:r>
                  <a:rPr lang="sq-AL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rrugë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shënohet me </a:t>
                </a:r>
                <a14:m>
                  <m:oMath xmlns:m="http://schemas.openxmlformats.org/officeDocument/2006/math">
                    <m:r>
                      <a:rPr lang="sq-AL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sq-AL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0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&lt;∆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sq-AL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merret vlera kufitare e zhvendosjes që zhvillohet brenda një intervali kohor shumë të shkurtër (</a:t>
                </a:r>
                <a14:m>
                  <m:oMath xmlns:m="http://schemas.openxmlformats.org/officeDocument/2006/math">
                    <m:r>
                      <a:rPr lang="sq-AL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sq-AL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sq-AL" sz="2000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sq-AL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fitohet elementi i zhvendosjes, pra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acc>
                            <m:accPr>
                              <m:chr m:val="⃗"/>
                              <m:ctrlPr>
                                <a:rPr lang="sq-AL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func>
                      <m:r>
                        <a:rPr lang="sq-A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sq-AL" sz="2000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sq-AL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elementi i </a:t>
                </a:r>
                <a:r>
                  <a:rPr lang="sq-AL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zhvendosjes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>
                  <a:buNone/>
                </a:pP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Kurse vlera kufitare e rrugës do të jetë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q-AL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q-AL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sq-A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sq-AL" sz="2000" i="1">
                        <a:latin typeface="Cambria Math" panose="02040503050406030204" pitchFamily="18" charset="0"/>
                      </a:rPr>
                      <m:t>𝑑𝑠</m:t>
                    </m:r>
                  </m:oMath>
                </a14:m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elementi i </a:t>
                </a:r>
                <a:r>
                  <a:rPr lang="sq-AL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rrugës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>
                  <a:buNone/>
                </a:pPr>
                <a:r>
                  <a:rPr lang="sq-AL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këtë rast kufitar, elementi i zhvendosjes është i barabartë me elementin e rrugës, pra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 sz="2000" i="1">
                          <a:latin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sq-AL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Pra, grimca gjatë lëvizjes përshkruan një </a:t>
                </a:r>
                <a:r>
                  <a:rPr lang="sq-AL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rrugë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shënohet me </a:t>
                </a:r>
                <a:r>
                  <a:rPr lang="sq-AL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Rruga është gjatësi, prandaj njësia ndërkombëtare e saj është </a:t>
                </a:r>
                <a:r>
                  <a:rPr lang="sq-AL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 </a:t>
                </a:r>
                <a:r>
                  <a:rPr lang="sq-A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(simboli: m)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14400"/>
                <a:ext cx="8305800" cy="5791200"/>
              </a:xfrm>
              <a:blipFill rotWithShape="0">
                <a:blip r:embed="rId2"/>
                <a:stretch>
                  <a:fillRect t="-1158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590800"/>
            <a:ext cx="2819400" cy="2209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/>
              <p14:cNvContentPartPr/>
              <p14:nvPr/>
            </p14:nvContentPartPr>
            <p14:xfrm>
              <a:off x="7851215" y="1436097"/>
              <a:ext cx="227520" cy="244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45815" y="1431057"/>
                <a:ext cx="238320" cy="342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808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4876800" cy="563562"/>
          </a:xfrm>
        </p:spPr>
        <p:txBody>
          <a:bodyPr/>
          <a:lstStyle/>
          <a:p>
            <a:pPr algn="ctr"/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q-AL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Koha </a:t>
            </a:r>
            <a:r>
              <a:rPr lang="sq-AL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dhe intervali kohor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447800"/>
                <a:ext cx="8305800" cy="4876800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sq-AL" sz="21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Koha është zgjatja e ndonjë dukuria apo procesi fizik</a:t>
                </a: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Intervali kohor është ndryshimi në mes të kohës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q-AL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q-AL" sz="2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q-AL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q-AL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q-AL" sz="2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sq-AL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</a:t>
                </a:r>
                <a:endParaRPr lang="en-US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1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sq-AL" sz="21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q-AL" sz="21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q-AL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q-AL" sz="21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sq-AL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qoftë se koha është shumë e shkurtër, atëherë intervali kohor si vlerë kufitare do </a:t>
                </a:r>
                <a:r>
                  <a:rPr lang="sq-AL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</a:t>
                </a:r>
                <a:r>
                  <a:rPr 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shndërrohet </a:t>
                </a: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 </a:t>
                </a:r>
                <a:r>
                  <a:rPr lang="sq-AL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elementin e kohës</a:t>
                </a:r>
                <a:r>
                  <a:rPr lang="sq-AL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shënohet</a:t>
                </a:r>
                <a:r>
                  <a:rPr lang="sq-AL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q-AL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1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1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1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1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q-AL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sq-AL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q-AL" sz="21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100" dirty="0" smtClean="0">
                  <a:latin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Njësia ndërkombëtare e kohës është </a:t>
                </a:r>
                <a:r>
                  <a:rPr lang="sq-AL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sekonda </a:t>
                </a:r>
                <a:r>
                  <a:rPr lang="sq-AL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(simboli: s</a:t>
                </a:r>
                <a:r>
                  <a:rPr lang="sq-AL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7800"/>
                <a:ext cx="8305800" cy="4876800"/>
              </a:xfrm>
              <a:blipFill rotWithShape="0">
                <a:blip r:embed="rId2"/>
                <a:stretch>
                  <a:fillRect t="-875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6564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692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3352800" cy="768706"/>
          </a:xfrm>
        </p:spPr>
        <p:txBody>
          <a:bodyPr/>
          <a:lstStyle/>
          <a:p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sq-AL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Shpejtësia </a:t>
            </a:r>
            <a:r>
              <a:rPr lang="sq-AL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lineare</a:t>
            </a: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19200"/>
                <a:ext cx="8382000" cy="5410200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sq-AL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Shpejtësia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mesatare e grimcës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sq-AL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q-AL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është madhësia e barabartë me herësin në mes të zhvendosjes </a:t>
                </a:r>
                <a14:m>
                  <m:oMath xmlns:m="http://schemas.openxmlformats.org/officeDocument/2006/math">
                    <m:r>
                      <a:rPr lang="sq-AL" sz="2400" i="1">
                        <a:latin typeface="Cambria Math" panose="020405030504060302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dhe intervalit kohor </a:t>
                </a:r>
                <a14:m>
                  <m:oMath xmlns:m="http://schemas.openxmlformats.org/officeDocument/2006/math">
                    <m:r>
                      <a:rPr lang="sq-AL" sz="24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sq-AL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sq-A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për të cilin bëhet ajo zhvendosje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sq-A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∆</m:t>
                          </m:r>
                          <m:acc>
                            <m:accPr>
                              <m:chr m:val="⃗"/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Shpejtësia e çastit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sq-A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gjendet nga vlera kufitare e shpejtësisë mesatare, 	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sq-AL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q-AL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sq-AL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acc>
                                <m:accPr>
                                  <m:chr m:val="⃗"/>
                                  <m:ctrlPr>
                                    <a:rPr lang="sq-AL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q-AL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pra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         </m:t>
                      </m:r>
                      <m:acc>
                        <m:accPr>
                          <m:chr m:val="⃗"/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sq-A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sq-AL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Nëse marrim </a:t>
                </a:r>
                <a14:m>
                  <m:oMath xmlns:m="http://schemas.openxmlformats.org/officeDocument/2006/math">
                    <m:r>
                      <a:rPr lang="sq-AL" sz="2400" i="1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sq-A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q-AL" sz="2400" i="1">
                        <a:latin typeface="Cambria Math" panose="02040503050406030204" pitchFamily="18" charset="0"/>
                      </a:rPr>
                      <m:t>𝑑𝑠</m:t>
                    </m:r>
                  </m:oMath>
                </a14:m>
                <a:endParaRPr lang="sq-A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sq-A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sq-AL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sq-A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Kjo shprehja e paraqet shpejtësinë e çastit. </a:t>
                </a:r>
                <a:r>
                  <a:rPr lang="sq-AL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Shpejtësia e çastit është e barabartë me derivatin e parë të rrugës për kohën.</a:t>
                </a:r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Njësia e shpejtësisë është metër për sekondë </a:t>
                </a:r>
                <a14:m>
                  <m:oMath xmlns:m="http://schemas.openxmlformats.org/officeDocument/2006/math">
                    <m:r>
                      <a:rPr lang="sq-AL" sz="24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sq-A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sq-AL" sz="24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sq-AL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q-A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sq-AL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sz="900" dirty="0" smtClean="0"/>
                  <a:t> </a:t>
                </a:r>
              </a:p>
              <a:p>
                <a:pPr marL="114300" indent="0" algn="ctr">
                  <a:buNone/>
                </a:pPr>
                <a:endParaRPr lang="sq-AL" sz="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dirty="0" smtClean="0"/>
              </a:p>
              <a:p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19200"/>
                <a:ext cx="8382000" cy="5410200"/>
              </a:xfrm>
              <a:blipFill rotWithShape="0">
                <a:blip r:embed="rId2"/>
                <a:stretch>
                  <a:fillRect t="-2365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241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172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3048000" cy="838200"/>
          </a:xfrm>
        </p:spPr>
        <p:txBody>
          <a:bodyPr/>
          <a:lstStyle/>
          <a:p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q-AL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Nxitimi </a:t>
            </a:r>
            <a:r>
              <a:rPr lang="sq-AL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0"/>
                <a:ext cx="8382000" cy="5562600"/>
              </a:xfrm>
            </p:spPr>
            <p:txBody>
              <a:bodyPr>
                <a:normAutofit fontScale="70000" lnSpcReduction="20000"/>
              </a:bodyPr>
              <a:lstStyle/>
              <a:p>
                <a:pPr marL="114300" indent="0" algn="just">
                  <a:buNone/>
                </a:pPr>
                <a:endParaRPr lang="sq-AL" dirty="0" smtClean="0"/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Nxitimi mesatar i grimcës është madhësia e barabartë me herësin në mes të </a:t>
                </a:r>
                <a:r>
                  <a:rPr lang="sq-AL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ndryshimit</a:t>
                </a:r>
                <a:r>
                  <a:rPr lang="en-US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të </a:t>
                </a: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shpejtësisë </a:t>
                </a:r>
                <a14:m>
                  <m:oMath xmlns:m="http://schemas.openxmlformats.org/officeDocument/2006/math">
                    <m:r>
                      <a:rPr lang="sq-AL" sz="2600" i="1">
                        <a:latin typeface="Cambria Math" panose="020405030504060302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sq-AL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q-AL" sz="2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sq-AL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intervalit kohor </a:t>
                </a:r>
                <a14:m>
                  <m:oMath xmlns:m="http://schemas.openxmlformats.org/officeDocument/2006/math">
                    <m:r>
                      <a:rPr lang="sq-AL" sz="26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sq-AL" sz="2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sq-AL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për të cilin ndodhë ai ndryshim, pra</a:t>
                </a: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</m:d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∆</m:t>
                          </m:r>
                          <m:acc>
                            <m:accPr>
                              <m:chr m:val="⃗"/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Nxitimi i çastit rrjedh nga vlera kufitare e nxitimit mesatar, pra</a:t>
                </a: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sq-AL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q-AL" sz="2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q-AL" sz="2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acc>
                                <m:accPr>
                                  <m:chr m:val="⃗"/>
                                  <m:ctrlPr>
                                    <a:rPr lang="sq-AL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q-AL" sz="2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  ,    </m:t>
                      </m:r>
                      <m:acc>
                        <m:accPr>
                          <m:chr m:val="⃗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Pra, </a:t>
                </a:r>
                <a:r>
                  <a:rPr lang="sq-AL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nxitimi i çastit është i barabartë me derivatin e parë të shpejtësisë për kohën.</a:t>
                </a:r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num>
                            <m:den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Pra, nxitimi mund të përkufizohet edhe me </a:t>
                </a:r>
                <a:r>
                  <a:rPr lang="sq-AL" sz="2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derivatin e dytë të rrugës për kohën.</a:t>
                </a:r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Njësia e nxitimit në SI rrjedhë nga formula</a:t>
                </a: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sz="2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sq-AL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d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num>
                        <m:den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d>
                      <m:f>
                        <m:fPr>
                          <m:ctrlPr>
                            <a:rPr lang="sq-AL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sz="26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sq-AL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sq-AL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sq-AL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 </a:t>
                </a:r>
                <a:r>
                  <a:rPr lang="sq-AL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për sekondë në katror është nxitimi </a:t>
                </a:r>
                <a:endParaRPr lang="en-US" sz="26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sq-AL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ndonjë trupi, shpejtësia e të cilit në</a:t>
                </a:r>
                <a:endParaRPr lang="sq-AL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kohën prej 1 sekonde </a:t>
                </a:r>
                <a:r>
                  <a:rPr lang="sq-AL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ndryshon</a:t>
                </a:r>
                <a:endParaRPr lang="en-US" sz="26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njëtrajtësisht për 1 metër për sekondë</a:t>
                </a:r>
                <a:r>
                  <a:rPr lang="sq-AL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 algn="just">
                  <a:buNone/>
                </a:pP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0"/>
                <a:ext cx="8382000" cy="5562600"/>
              </a:xfrm>
              <a:blipFill rotWithShape="0">
                <a:blip r:embed="rId2"/>
                <a:stretch>
                  <a:fillRect r="-582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4572000"/>
            <a:ext cx="2762250" cy="2286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437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4343400" cy="639762"/>
          </a:xfrm>
        </p:spPr>
        <p:txBody>
          <a:bodyPr/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      </a:t>
            </a:r>
            <a:r>
              <a:rPr lang="sq-AL" sz="2800" b="1" i="1" dirty="0" smtClean="0"/>
              <a:t>Perioda </a:t>
            </a:r>
            <a:r>
              <a:rPr lang="sq-AL" sz="2800" b="1" i="1" dirty="0"/>
              <a:t>dhe frekuenca</a:t>
            </a:r>
            <a:r>
              <a:rPr lang="sq-AL" dirty="0"/>
              <a:t/>
            </a:r>
            <a:br>
              <a:rPr lang="sq-AL" dirty="0"/>
            </a:br>
            <a:endParaRPr lang="sq-A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219200"/>
                <a:ext cx="8382000" cy="5562600"/>
              </a:xfrm>
            </p:spPr>
            <p:txBody>
              <a:bodyPr>
                <a:normAutofit/>
              </a:bodyPr>
              <a:lstStyle/>
              <a:p>
                <a:pPr marL="114300" indent="0" algn="just">
                  <a:buNone/>
                </a:pPr>
                <a:r>
                  <a:rPr lang="sq-AL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Perioda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është koha gjatë së cilës përsëritet plotësisht ndonjë dukuri fizike. Perioda zakonisht shënohet me simbolin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Meqenëse perioda paraqet kohë të caktuar, njësia e saj është </a:t>
                </a:r>
                <a:r>
                  <a:rPr lang="sq-AL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sekonda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(s)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 algn="just">
                  <a:buNone/>
                </a:pP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Frekuenca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është numri i përsëritjeve të plota të ndonjë dukurie fizike në njësinë e kohës. Frekuenca zakonisht shënohet me simbolin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𝜐</m:t>
                    </m:r>
                    <m:r>
                      <a:rPr lang="sq-A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dhe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është e barabartë me vlerën reciproke të periodës, pra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q-AL" i="1">
                          <a:latin typeface="Cambria Math" panose="02040503050406030204" pitchFamily="18" charset="0"/>
                        </a:rPr>
                        <m:t>𝜐</m:t>
                      </m:r>
                      <m:r>
                        <a:rPr lang="sq-AL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q-A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q-AL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11430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sq-AL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jësia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frekuencës është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sekonda reciproke </a:t>
                </a:r>
                <a14:m>
                  <m:oMath xmlns:m="http://schemas.openxmlformats.org/officeDocument/2006/math">
                    <m:r>
                      <a:rPr lang="sq-AL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q-AL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q-AL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sq-AL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sq-A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q-AL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sq-AL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sq-A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Kjo njësi është emërtuar posaçërisht me emrin e shkencëtarit gjerman </a:t>
                </a:r>
                <a:r>
                  <a:rPr lang="sq-A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Herc 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sq-AL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Hertz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Simboli i njësisë së frekuencës është </a:t>
                </a:r>
                <a:r>
                  <a:rPr lang="sq-AL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Hz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(lexo: herc</a:t>
                </a:r>
                <a:r>
                  <a:rPr lang="sq-AL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sq-AL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Herci është frekuenca e dukurisë fizike, perioda e së cilës zgjatë 1 sekondë</a:t>
                </a:r>
                <a:r>
                  <a:rPr lang="sq-A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4300" indent="0">
                  <a:buNone/>
                </a:pPr>
                <a:endParaRPr lang="sq-AL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sq-A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219200"/>
                <a:ext cx="8382000" cy="5562600"/>
              </a:xfrm>
              <a:blipFill rotWithShape="0">
                <a:blip r:embed="rId2"/>
                <a:stretch>
                  <a:fillRect t="-767" r="-945"/>
                </a:stretch>
              </a:blipFill>
            </p:spPr>
            <p:txBody>
              <a:bodyPr/>
              <a:lstStyle/>
              <a:p>
                <a:r>
                  <a:rPr lang="sq-A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289"/>
            <a:ext cx="1219200" cy="1173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3485</TotalTime>
  <Words>1043</Words>
  <Application>Microsoft Office PowerPoint</Application>
  <PresentationFormat>On-screen Show (4:3)</PresentationFormat>
  <Paragraphs>224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Times New Roman</vt:lpstr>
      <vt:lpstr>Wingdings</vt:lpstr>
      <vt:lpstr>Adjacency</vt:lpstr>
      <vt:lpstr>Çka është FIZIKA?</vt:lpstr>
      <vt:lpstr>                                       Metodat e hulumtimeve</vt:lpstr>
      <vt:lpstr>Studimi sasior – një studim i këtillë është kur studiuesi e shkakton vetë dukurinë që i intereson përmes eksperimentit dhe metoda e tille quhet metodë eksperimentale.</vt:lpstr>
      <vt:lpstr> Madhësitë fizike  </vt:lpstr>
      <vt:lpstr>PowerPoint Presentation</vt:lpstr>
      <vt:lpstr>Sistemi ndërkombëtar - SI</vt:lpstr>
      <vt:lpstr>Shumëfishat dhe nënfishat</vt:lpstr>
      <vt:lpstr> Madhësitë skalare dhe vektoriale  </vt:lpstr>
      <vt:lpstr>PowerPoint Presentation</vt:lpstr>
      <vt:lpstr>  Mbledhja dhe zbritja e vektorëve   </vt:lpstr>
      <vt:lpstr>Zbritja e vektorëve</vt:lpstr>
      <vt:lpstr>Teorema e kosinusit dhe sinusit</vt:lpstr>
      <vt:lpstr>     Komponentët e vektorit </vt:lpstr>
      <vt:lpstr>Prodhimi i vektorëve</vt:lpstr>
      <vt:lpstr>PowerPoint Presentation</vt:lpstr>
      <vt:lpstr>Elementet e lëvizjes</vt:lpstr>
      <vt:lpstr>PowerPoint Presentation</vt:lpstr>
      <vt:lpstr>  Koha dhe intervali kohor </vt:lpstr>
      <vt:lpstr>        Shpejtësia lineare  </vt:lpstr>
      <vt:lpstr> Nxitimi linear </vt:lpstr>
      <vt:lpstr>       Perioda dhe frekuenca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LIGJERATA E PARË: 1. SIPËRFAQET</dc:title>
  <dc:creator>pci</dc:creator>
  <cp:lastModifiedBy>valon veliu</cp:lastModifiedBy>
  <cp:revision>204</cp:revision>
  <dcterms:created xsi:type="dcterms:W3CDTF">2006-08-16T00:00:00Z</dcterms:created>
  <dcterms:modified xsi:type="dcterms:W3CDTF">2022-10-10T16:13:40Z</dcterms:modified>
</cp:coreProperties>
</file>