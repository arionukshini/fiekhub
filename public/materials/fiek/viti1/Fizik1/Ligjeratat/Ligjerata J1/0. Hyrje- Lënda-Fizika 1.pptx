
<file path=[Content_Types].xml><?xml version="1.0" encoding="utf-8"?>
<Types xmlns="http://schemas.openxmlformats.org/package/2006/content-types"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8"/>
  </p:notesMasterIdLst>
  <p:sldIdLst>
    <p:sldId id="302" r:id="rId2"/>
    <p:sldId id="307" r:id="rId3"/>
    <p:sldId id="257" r:id="rId4"/>
    <p:sldId id="303" r:id="rId5"/>
    <p:sldId id="305" r:id="rId6"/>
    <p:sldId id="304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300" y="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2BDDC9-33CA-4A84-A1C9-9869C889F24E}" type="datetimeFigureOut">
              <a:rPr lang="en-US" smtClean="0"/>
              <a:t>10/10/2022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14EFAF-C0C6-4230-BD25-5DB3C2EB5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0159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10/10/2022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10/10/2022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hyperlink" Target="mailto:valon.veliu@uni-pr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1371600"/>
            <a:ext cx="8153400" cy="5410200"/>
          </a:xfrm>
        </p:spPr>
        <p:txBody>
          <a:bodyPr/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</a:t>
            </a:r>
            <a:b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       </a:t>
            </a:r>
            <a:b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Universiteti</a:t>
            </a:r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Prishtinës</a:t>
            </a: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”Hasan </a:t>
            </a:r>
            <a:r>
              <a:rPr lang="en-US" sz="36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Prishtina</a:t>
            </a:r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sz="3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Fakulteti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Inxhinierisë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Elektrike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dhe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Kompjuterike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LËNDA: </a:t>
            </a:r>
            <a:r>
              <a:rPr lang="en-US" sz="24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Fizika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  <a:b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Fondi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orëve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në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javë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(3+1+1)</a:t>
            </a:r>
            <a:b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Viti</a:t>
            </a: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shkollor</a:t>
            </a: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2022/2023</a:t>
            </a:r>
            <a:b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ORARI</a:t>
            </a:r>
            <a:b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i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Ligjërata</a:t>
            </a:r>
            <a:r>
              <a:rPr lang="en-US" sz="24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en-US" sz="2400" b="1" i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hën</a:t>
            </a:r>
            <a:r>
              <a:rPr lang="en-US" sz="2400" b="1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ë</a:t>
            </a:r>
            <a:r>
              <a:rPr lang="en-US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400" b="1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13:45-16:00  Gr. 1 </a:t>
            </a:r>
            <a:r>
              <a:rPr lang="en-US" sz="2400" b="1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dhe</a:t>
            </a:r>
            <a:r>
              <a:rPr lang="en-US" sz="2400" b="1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Gr.4,</a:t>
            </a:r>
            <a:br>
              <a:rPr lang="en-US" sz="2400" b="1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b="1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        16:00-19:15 Gr. 3 </a:t>
            </a:r>
            <a:r>
              <a:rPr lang="en-US" sz="2400" b="1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dhe</a:t>
            </a:r>
            <a:r>
              <a:rPr lang="en-US" sz="2400" b="1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Gr. 6. 	</a:t>
            </a:r>
            <a:r>
              <a:rPr lang="en-US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  </a:t>
            </a:r>
            <a:r>
              <a:rPr lang="en-US" sz="24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en-US" sz="2400" b="1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mërkure</a:t>
            </a:r>
            <a:r>
              <a:rPr lang="en-US" sz="24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400" b="1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11:50-14:15 Gr.2,</a:t>
            </a:r>
            <a:br>
              <a:rPr lang="en-US" sz="2400" b="1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          15:45-18:00 </a:t>
            </a:r>
            <a:r>
              <a:rPr lang="en-US" sz="2400" b="1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Gr.5.</a:t>
            </a:r>
            <a:r>
              <a:rPr 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i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Ushtrime</a:t>
            </a:r>
            <a:r>
              <a:rPr lang="en-US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numerike</a:t>
            </a:r>
            <a:r>
              <a:rPr lang="en-US" sz="24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b="1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2a, 2b, 4a </a:t>
            </a:r>
            <a:r>
              <a:rPr lang="en-US" sz="2400" b="1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dhe</a:t>
            </a:r>
            <a:r>
              <a:rPr lang="en-US" sz="2400" b="1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4b</a:t>
            </a:r>
            <a:r>
              <a:rPr 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Asistent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Msc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Valon 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Veliu 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e-mail: 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valon.veliu@uni-pr.edu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8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Kab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710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28600"/>
            <a:ext cx="1143000" cy="10668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83075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9800" y="282382"/>
            <a:ext cx="4267200" cy="1089218"/>
          </a:xfrm>
        </p:spPr>
        <p:txBody>
          <a:bodyPr/>
          <a:lstStyle/>
          <a:p>
            <a:r>
              <a:rPr lang="sq-AL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Qëllimi</a:t>
            </a:r>
            <a:r>
              <a:rPr lang="en-US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q-AL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lëndës</a:t>
            </a:r>
            <a:r>
              <a:rPr lang="en-US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sq-AL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kursit</a:t>
            </a:r>
            <a:r>
              <a:rPr lang="en-US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sq-AL" sz="3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76400"/>
            <a:ext cx="8001000" cy="47244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sq-AL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Lënda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q-AL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përfshin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pjesë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nga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q-AL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fizik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sq-AL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q-AL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të nevojshme për të fituar njohuri të përgjithshme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për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zbatimin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tyre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q-AL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në </a:t>
            </a:r>
            <a:r>
              <a:rPr lang="sq-AL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inxhinieri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sq-AL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Qëllimi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lëndës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së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q-AL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fizikes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q-AL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ë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shtë</a:t>
            </a:r>
            <a:r>
              <a:rPr lang="sq-AL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zbatimi</a:t>
            </a:r>
            <a:r>
              <a:rPr lang="sq-AL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q-AL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ligjeve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të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q-AL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fizike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sq-AL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q-AL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për të zgjidhur problemet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ndryshme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q-AL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nga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q-AL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inxhinieri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përfundimit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të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suksesshëm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të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këtij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kursit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ju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studentë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të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jeni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në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gjendje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të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Analizoni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dhe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zbatoni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problemet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nga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mekanika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dhe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të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zgjidhin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ekuacionet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lëvizjes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0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Analizoni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dhe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zbatoni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parimet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ruajtjes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së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energjisë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dhe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sasis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ë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së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lëvizjes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Analizoni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dhe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zbatoni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ekuacionin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lëvizjes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rrethore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për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trupa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të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ngurtë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Analizoni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dhe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zbatoni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ligjet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termodinamikës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dhe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proceseve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ciklike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të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termodinamike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04800"/>
            <a:ext cx="1143000" cy="10668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21832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82383"/>
            <a:ext cx="7620000" cy="715962"/>
          </a:xfrm>
        </p:spPr>
        <p:txBody>
          <a:bodyPr/>
          <a:lstStyle/>
          <a:p>
            <a:pPr algn="ctr"/>
            <a:r>
              <a:rPr lang="en-US" sz="3600" b="1" dirty="0" smtClean="0"/>
              <a:t/>
            </a:r>
            <a:br>
              <a:rPr lang="en-US" sz="3600" b="1" dirty="0" smtClean="0"/>
            </a:b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i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Përmbajtja</a:t>
            </a:r>
            <a:r>
              <a:rPr lang="en-US" sz="3600" b="1" i="1" dirty="0">
                <a:solidFill>
                  <a:schemeClr val="tx1"/>
                </a:solidFill>
              </a:rPr>
              <a:t/>
            </a:r>
            <a:br>
              <a:rPr lang="en-US" sz="3600" b="1" i="1" dirty="0">
                <a:solidFill>
                  <a:schemeClr val="tx1"/>
                </a:solidFill>
              </a:rPr>
            </a:br>
            <a:r>
              <a:rPr lang="en-US" sz="3600" b="1" dirty="0" smtClean="0"/>
              <a:t/>
            </a:r>
            <a:br>
              <a:rPr lang="en-US" sz="3600" b="1" dirty="0" smtClean="0"/>
            </a:b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71600"/>
            <a:ext cx="7772400" cy="541020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sq-AL" sz="23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Sistemi ndërkombëtar SI. Metodat fizike,</a:t>
            </a:r>
            <a:r>
              <a:rPr lang="en-US" sz="23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q-AL" sz="23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madhësitë dhe njësit. </a:t>
            </a:r>
            <a:endParaRPr lang="en-US" sz="2300" b="1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3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Lëvizjet</a:t>
            </a:r>
            <a:r>
              <a:rPr lang="en-US" sz="23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mekanike</a:t>
            </a:r>
            <a:r>
              <a:rPr lang="en-US" sz="23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sq-AL" sz="23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lëvizjet</a:t>
            </a:r>
            <a:r>
              <a:rPr lang="en-US" sz="23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q-AL" sz="23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drejtvizore</a:t>
            </a:r>
            <a:r>
              <a:rPr lang="en-US" sz="23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dhe</a:t>
            </a:r>
            <a:r>
              <a:rPr lang="en-US" sz="23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q-AL" sz="23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vij</a:t>
            </a:r>
            <a:r>
              <a:rPr lang="en-US" sz="23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ë</a:t>
            </a:r>
            <a:r>
              <a:rPr lang="sq-AL" sz="23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3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ë</a:t>
            </a:r>
            <a:r>
              <a:rPr lang="sq-AL" sz="23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rkul</a:t>
            </a:r>
            <a:r>
              <a:rPr lang="en-US" sz="23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ë</a:t>
            </a:r>
            <a:r>
              <a:rPr lang="sq-AL" sz="23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</a:t>
            </a:r>
            <a:r>
              <a:rPr lang="en-US" sz="23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3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Dinamika</a:t>
            </a:r>
            <a:r>
              <a:rPr lang="en-US" sz="23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23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lëvizjes</a:t>
            </a:r>
            <a:r>
              <a:rPr lang="en-US" sz="23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3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Ligjet</a:t>
            </a:r>
            <a:r>
              <a:rPr lang="en-US" sz="23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23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Njutonit</a:t>
            </a:r>
            <a:endParaRPr lang="en-US" sz="2300" b="1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3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Dinamika</a:t>
            </a:r>
            <a:r>
              <a:rPr lang="en-US" sz="23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23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lëvizjes</a:t>
            </a:r>
            <a:r>
              <a:rPr lang="en-US" sz="23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rrotulluese</a:t>
            </a:r>
            <a:r>
              <a:rPr lang="en-US" sz="23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3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Puna</a:t>
            </a:r>
            <a:r>
              <a:rPr lang="en-US" sz="23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dhe</a:t>
            </a:r>
            <a:r>
              <a:rPr lang="en-US" sz="23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energjia</a:t>
            </a:r>
            <a:endParaRPr lang="en-US" sz="2300" b="1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3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Graviteti</a:t>
            </a:r>
            <a:endParaRPr lang="en-US" sz="2300" b="1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3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Fluidet</a:t>
            </a:r>
            <a:endParaRPr lang="en-US" sz="2300" b="1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3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Nxehtësia</a:t>
            </a:r>
            <a:endParaRPr lang="en-US" sz="2300" b="1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3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Fizika</a:t>
            </a:r>
            <a:r>
              <a:rPr lang="en-US" sz="23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molekulare</a:t>
            </a:r>
            <a:endParaRPr lang="en-US" sz="2300" b="1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3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Bymimi</a:t>
            </a:r>
            <a:r>
              <a:rPr lang="en-US" sz="23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termik</a:t>
            </a:r>
            <a:r>
              <a:rPr lang="en-US" sz="23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3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trupave</a:t>
            </a:r>
            <a:r>
              <a:rPr lang="en-US" sz="23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të</a:t>
            </a:r>
            <a:r>
              <a:rPr lang="en-US" sz="23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ngurtë</a:t>
            </a:r>
            <a:endParaRPr lang="en-US" sz="2300" b="1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3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Termodinamika</a:t>
            </a:r>
            <a:r>
              <a:rPr lang="en-US" sz="23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6" name="Picture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04800"/>
            <a:ext cx="1143000" cy="10668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08913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0800" y="282383"/>
            <a:ext cx="2667000" cy="715962"/>
          </a:xfrm>
        </p:spPr>
        <p:txBody>
          <a:bodyPr/>
          <a:lstStyle/>
          <a:p>
            <a:pPr lvl="0" algn="ctr"/>
            <a:r>
              <a:rPr lang="en-US" sz="3600" b="1" dirty="0" smtClean="0"/>
              <a:t/>
            </a:r>
            <a:br>
              <a:rPr lang="en-US" sz="3600" b="1" dirty="0" smtClean="0"/>
            </a:br>
            <a:r>
              <a:rPr lang="en-US" sz="3600" b="1" dirty="0"/>
              <a:t/>
            </a:r>
            <a:br>
              <a:rPr lang="en-US" sz="3600" b="1" dirty="0"/>
            </a:br>
            <a:r>
              <a:rPr lang="en-US" sz="3600" b="1" dirty="0" smtClean="0"/>
              <a:t/>
            </a:r>
            <a:br>
              <a:rPr lang="en-US" sz="3600" b="1" dirty="0" smtClean="0"/>
            </a:br>
            <a:r>
              <a:rPr lang="en-US" sz="36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Vlerësimi</a:t>
            </a: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 smtClean="0"/>
              <a:t/>
            </a:r>
            <a:br>
              <a:rPr lang="en-US" sz="3600" b="1" dirty="0" smtClean="0"/>
            </a:br>
            <a:r>
              <a:rPr lang="en-US" sz="3600" b="1" dirty="0" smtClean="0"/>
              <a:t/>
            </a:r>
            <a:br>
              <a:rPr lang="en-US" sz="3600" b="1" dirty="0" smtClean="0"/>
            </a:br>
            <a:endParaRPr lang="en-US" sz="3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7772400" cy="51816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sq-AL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Kufiri i kalueshmërisë së lëndës është 50%.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sq-AL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Vijueshmëria </a:t>
            </a:r>
            <a:r>
              <a:rPr lang="sq-AL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dhe aktiviteti </a:t>
            </a:r>
            <a:r>
              <a:rPr lang="en-US" sz="32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gjat</a:t>
            </a:r>
            <a:r>
              <a:rPr lang="sq-AL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ë</a:t>
            </a:r>
            <a:r>
              <a:rPr lang="en-US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orës</a:t>
            </a:r>
            <a:r>
              <a:rPr lang="en-US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114300" indent="0">
              <a:buNone/>
            </a:pP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sq-AL" sz="32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10 %</a:t>
            </a:r>
            <a:r>
              <a:rPr lang="en-US" sz="32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=5%+5%</a:t>
            </a:r>
            <a:endParaRPr lang="en-US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Kollokfiumet</a:t>
            </a:r>
            <a:r>
              <a:rPr lang="en-US" sz="32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114300" indent="0">
              <a:buNone/>
            </a:pPr>
            <a:r>
              <a:rPr lang="en-US" sz="32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32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2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parë</a:t>
            </a:r>
            <a:r>
              <a:rPr lang="en-US" sz="32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(10%)+ </a:t>
            </a:r>
            <a:r>
              <a:rPr lang="en-US" sz="32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2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dytë</a:t>
            </a:r>
            <a:r>
              <a:rPr lang="en-US" sz="32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(40%) +</a:t>
            </a:r>
            <a:r>
              <a:rPr lang="en-US" sz="32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2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tretë</a:t>
            </a:r>
            <a:r>
              <a:rPr lang="en-US" sz="32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32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40%)</a:t>
            </a:r>
            <a:endParaRPr lang="en-US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US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sq-AL" sz="32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Testi </a:t>
            </a:r>
            <a:r>
              <a:rPr lang="sq-AL" sz="32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</a:t>
            </a:r>
            <a:r>
              <a:rPr lang="en-US" sz="32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32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provimi</a:t>
            </a:r>
            <a:r>
              <a:rPr lang="en-US" sz="32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sq-AL" sz="32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sz="3200" i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US" sz="32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32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detyrat</a:t>
            </a:r>
            <a:r>
              <a:rPr lang="en-US" sz="32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50% + </a:t>
            </a:r>
            <a:r>
              <a:rPr lang="en-US" sz="32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teoria</a:t>
            </a:r>
            <a:r>
              <a:rPr lang="en-US" sz="32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50%</a:t>
            </a:r>
            <a:endParaRPr lang="en-US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04800"/>
            <a:ext cx="1143000" cy="10668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787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82383"/>
            <a:ext cx="7620000" cy="715962"/>
          </a:xfrm>
        </p:spPr>
        <p:txBody>
          <a:bodyPr/>
          <a:lstStyle/>
          <a:p>
            <a:pPr lvl="0" algn="ctr"/>
            <a:r>
              <a:rPr lang="en-US" sz="3600" b="1" dirty="0" smtClean="0"/>
              <a:t/>
            </a:r>
            <a:br>
              <a:rPr lang="en-US" sz="3600" b="1" dirty="0" smtClean="0"/>
            </a:br>
            <a:r>
              <a:rPr lang="en-US" sz="3600" b="1" dirty="0"/>
              <a:t/>
            </a:r>
            <a:br>
              <a:rPr lang="en-US" sz="3600" b="1" dirty="0"/>
            </a:br>
            <a:r>
              <a:rPr lang="en-US" sz="3600" b="1" dirty="0" smtClean="0"/>
              <a:t/>
            </a:r>
            <a:br>
              <a:rPr lang="en-US" sz="3600" b="1" dirty="0" smtClean="0"/>
            </a:br>
            <a:r>
              <a:rPr lang="en-US" sz="3600" b="1" dirty="0" smtClean="0"/>
              <a:t/>
            </a:r>
            <a:br>
              <a:rPr lang="en-US" sz="3600" b="1" dirty="0" smtClean="0"/>
            </a:b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76200" y="1524000"/>
            <a:ext cx="8610600" cy="5029200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2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Kur</a:t>
            </a:r>
            <a:r>
              <a:rPr lang="en-US" sz="32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organizohen</a:t>
            </a:r>
            <a:r>
              <a:rPr lang="en-US" sz="32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kollokfiumet</a:t>
            </a:r>
            <a:r>
              <a:rPr lang="en-US" sz="32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32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Kollokfiumi</a:t>
            </a:r>
            <a:r>
              <a:rPr lang="en-US" sz="32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2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parë</a:t>
            </a:r>
            <a:r>
              <a:rPr lang="en-US" sz="32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në</a:t>
            </a:r>
            <a:r>
              <a:rPr lang="en-US" sz="32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javën</a:t>
            </a:r>
            <a:r>
              <a:rPr lang="en-US" sz="32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3200" i="1" dirty="0" err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katërt</a:t>
            </a:r>
            <a:r>
              <a:rPr lang="en-US" sz="3200" i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(IV)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Kollokfiumi</a:t>
            </a:r>
            <a:r>
              <a:rPr lang="en-US" sz="32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2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dytë</a:t>
            </a:r>
            <a:r>
              <a:rPr lang="en-US" sz="32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në</a:t>
            </a:r>
            <a:r>
              <a:rPr lang="en-US" sz="32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javën</a:t>
            </a:r>
            <a:r>
              <a:rPr lang="en-US" sz="32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3200" i="1" dirty="0" err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gjashtë</a:t>
            </a:r>
            <a:r>
              <a:rPr lang="en-US" sz="32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(VI </a:t>
            </a:r>
            <a:r>
              <a:rPr lang="en-US" sz="32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ose</a:t>
            </a:r>
            <a:r>
              <a:rPr lang="en-US" sz="32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VII)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Kollokfiumi</a:t>
            </a:r>
            <a:r>
              <a:rPr lang="en-US" sz="32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2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tretë</a:t>
            </a:r>
            <a:r>
              <a:rPr lang="en-US" sz="32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në</a:t>
            </a:r>
            <a:r>
              <a:rPr lang="en-US" sz="32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javën</a:t>
            </a:r>
            <a:r>
              <a:rPr lang="en-US" sz="32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sq-AL" sz="3200" i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dymbëdhjetë</a:t>
            </a:r>
            <a:r>
              <a:rPr lang="en-US" sz="32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(XII </a:t>
            </a:r>
            <a:r>
              <a:rPr lang="en-US" sz="32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ose</a:t>
            </a:r>
            <a:r>
              <a:rPr lang="en-US" sz="32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XIII)</a:t>
            </a:r>
          </a:p>
          <a:p>
            <a:pPr marL="114300" indent="0">
              <a:buNone/>
            </a:pPr>
            <a:endParaRPr lang="en-US" sz="32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sq-AL" sz="32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Testi final</a:t>
            </a:r>
            <a:r>
              <a:rPr lang="en-US" sz="32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32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provimi</a:t>
            </a:r>
            <a:r>
              <a:rPr lang="en-US" sz="32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en-US" sz="32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Sipas</a:t>
            </a:r>
            <a:r>
              <a:rPr lang="en-US" sz="32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orarit</a:t>
            </a:r>
            <a:r>
              <a:rPr lang="en-US" sz="32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të</a:t>
            </a:r>
            <a:r>
              <a:rPr lang="en-US" sz="32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rregullt</a:t>
            </a:r>
            <a:r>
              <a:rPr lang="en-US" sz="32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3200" b="1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Fizika</a:t>
            </a:r>
            <a:r>
              <a:rPr lang="en-US" sz="3200" b="1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1, </a:t>
            </a:r>
            <a:r>
              <a:rPr lang="en-US" sz="3200" b="1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të</a:t>
            </a:r>
            <a:r>
              <a:rPr lang="en-US" sz="3200" b="1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marten e </a:t>
            </a:r>
            <a:r>
              <a:rPr lang="en-US" sz="3200" b="1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dytë</a:t>
            </a:r>
            <a:r>
              <a:rPr lang="en-US" sz="32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32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që</a:t>
            </a:r>
            <a:r>
              <a:rPr lang="en-US" sz="32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është</a:t>
            </a:r>
            <a:r>
              <a:rPr lang="en-US" sz="32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shpallur</a:t>
            </a:r>
            <a:r>
              <a:rPr lang="en-US" sz="32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në</a:t>
            </a:r>
            <a:r>
              <a:rPr lang="en-US" sz="32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faqen</a:t>
            </a:r>
            <a:r>
              <a:rPr lang="en-US" sz="32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zyrtare</a:t>
            </a:r>
            <a:r>
              <a:rPr lang="en-US" sz="32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të</a:t>
            </a:r>
            <a:r>
              <a:rPr lang="en-US" sz="32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FIEK.</a:t>
            </a:r>
            <a:endParaRPr lang="en-US" sz="32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04800"/>
            <a:ext cx="1143000" cy="10668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67977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407974"/>
            <a:ext cx="7620000" cy="2487626"/>
          </a:xfrm>
        </p:spPr>
        <p:txBody>
          <a:bodyPr/>
          <a:lstStyle/>
          <a:p>
            <a:pPr lvl="0" algn="ctr"/>
            <a:r>
              <a:rPr lang="en-US" sz="36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Literatura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3600" b="1" dirty="0" smtClean="0"/>
              <a:t/>
            </a:r>
            <a:br>
              <a:rPr lang="en-US" sz="3600" b="1" dirty="0" smtClean="0"/>
            </a:b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905000"/>
            <a:ext cx="7772400" cy="4876800"/>
          </a:xfrm>
        </p:spPr>
        <p:txBody>
          <a:bodyPr>
            <a:normAutofit/>
          </a:bodyPr>
          <a:lstStyle/>
          <a:p>
            <a:pPr lvl="0">
              <a:buFont typeface="Wingdings" panose="05000000000000000000" pitchFamily="2" charset="2"/>
              <a:buChar char="Ø"/>
            </a:pPr>
            <a:r>
              <a:rPr lang="sq-A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S.Skenderi</a:t>
            </a:r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q-A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R,Maliqi</a:t>
            </a:r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“Fizika për studentët e fakulteteve teknike</a:t>
            </a:r>
            <a:r>
              <a:rPr lang="sq-AL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”, </a:t>
            </a:r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UP, Prishtinë, 2005</a:t>
            </a:r>
            <a:r>
              <a:rPr lang="sq-AL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sq-A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S.Skenderi</a:t>
            </a:r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q-A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R,Maliqi</a:t>
            </a:r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Përmbledhje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detyrash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Fizika</a:t>
            </a:r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”, UP, Prishtinë, 200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sq-AL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R.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Serway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J.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W.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Jewett, “Physics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Scientists and Engineers with Modern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Physics”, </a:t>
            </a:r>
            <a:r>
              <a:rPr lang="sq-AL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Brooks</a:t>
            </a:r>
            <a:r>
              <a:rPr lang="sq-AL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sq-AL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2013.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Halliday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Resnick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J. Walker, “Fundamentals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Physics”, Wiley, 2013.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J. S. Walker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“Physics” Pearson, 2017.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04800"/>
            <a:ext cx="1143000" cy="10668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55778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ency">
  <a:themeElements>
    <a:clrScheme name="Adjacency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1239</TotalTime>
  <Words>384</Words>
  <Application>Microsoft Office PowerPoint</Application>
  <PresentationFormat>On-screen Show (4:3)</PresentationFormat>
  <Paragraphs>44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Cambria</vt:lpstr>
      <vt:lpstr>Times New Roman</vt:lpstr>
      <vt:lpstr>Wingdings</vt:lpstr>
      <vt:lpstr>Adjacency</vt:lpstr>
      <vt:lpstr>                                                            Universiteti i Prishtinës ”Hasan Prishtina”  Fakulteti i Inxhinierisë Elektrike dhe Kompjuterike  LËNDA: Fizika 1 Fondi i orëve në javë: (3+1+1) Viti shkollor 2022/2023 ORARI Ligjërata: E hënë       13:45-16:00  Gr. 1 dhe Gr.4,             16:00-19:15 Gr. 3 dhe Gr. 6.        E mërkure  11:50-14:15 Gr.2,             15:45-18:00 Gr.5. Ushtrime numerike: 2a, 2b, 4a dhe 4b Asistent: Msc. Valon Veliu  e-mail: valon.veliu@uni-pr.edu    Kab. 710</vt:lpstr>
      <vt:lpstr>Qëllimi i lëndës (kursit)</vt:lpstr>
      <vt:lpstr>  Përmbajtja  </vt:lpstr>
      <vt:lpstr>   Vlerësimi   </vt:lpstr>
      <vt:lpstr>    </vt:lpstr>
      <vt:lpstr>Literatura     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LIGJERATA E PARË: 1. SIPËRFAQET</dc:title>
  <dc:creator>pci</dc:creator>
  <cp:lastModifiedBy>valon veliu</cp:lastModifiedBy>
  <cp:revision>113</cp:revision>
  <dcterms:created xsi:type="dcterms:W3CDTF">2006-08-16T00:00:00Z</dcterms:created>
  <dcterms:modified xsi:type="dcterms:W3CDTF">2022-10-10T16:13:43Z</dcterms:modified>
</cp:coreProperties>
</file>